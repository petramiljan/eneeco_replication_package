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EF2C4"/>
    <a:srgbClr val="45DC02"/>
    <a:srgbClr val="B5FE94"/>
    <a:srgbClr val="FAFF93"/>
    <a:srgbClr val="F8D3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51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Álvaro García Cerezo" userId="431236b2-20b9-46ca-97a9-97f8fe0db936" providerId="ADAL" clId="{15107D05-290A-4D7B-AE2B-29B0EAF6F057}"/>
    <pc:docChg chg="delSld">
      <pc:chgData name="Álvaro García Cerezo" userId="431236b2-20b9-46ca-97a9-97f8fe0db936" providerId="ADAL" clId="{15107D05-290A-4D7B-AE2B-29B0EAF6F057}" dt="2026-08-29T13:36:00.624" v="1" actId="47"/>
      <pc:docMkLst>
        <pc:docMk/>
      </pc:docMkLst>
      <pc:sldChg chg="del">
        <pc:chgData name="Álvaro García Cerezo" userId="431236b2-20b9-46ca-97a9-97f8fe0db936" providerId="ADAL" clId="{15107D05-290A-4D7B-AE2B-29B0EAF6F057}" dt="2026-08-29T13:36:00.624" v="1" actId="47"/>
        <pc:sldMkLst>
          <pc:docMk/>
          <pc:sldMk cId="3552732997" sldId="256"/>
        </pc:sldMkLst>
      </pc:sldChg>
      <pc:sldChg chg="del">
        <pc:chgData name="Álvaro García Cerezo" userId="431236b2-20b9-46ca-97a9-97f8fe0db936" providerId="ADAL" clId="{15107D05-290A-4D7B-AE2B-29B0EAF6F057}" dt="2026-08-29T13:35:59.687" v="0" actId="47"/>
        <pc:sldMkLst>
          <pc:docMk/>
          <pc:sldMk cId="3652280655" sldId="257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6BA6D35-B051-B6F6-83E5-11ACA15085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B371259-6E00-362D-AEC9-B6CD2078BA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6594834-001E-FB8A-B62B-1C85C6D4AB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8C0C99-A70E-47B7-B595-5F2073817AEF}" type="datetimeFigureOut">
              <a:rPr lang="es-ES" smtClean="0"/>
              <a:t>29/08/2026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615FF42-D675-63D7-9DD2-E81B29C60B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FF5891A-3980-5162-43B6-3909F0E4F3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7B961-E9F5-49FA-B097-7E4DB43A5E9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090752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BB2B819-E41B-9C35-C209-6EAAB0BB1F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2C27179-FAE8-A04E-7CEA-BD8D097DF8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FEA5411-28AC-638B-99DC-9EF45BD439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8C0C99-A70E-47B7-B595-5F2073817AEF}" type="datetimeFigureOut">
              <a:rPr lang="es-ES" smtClean="0"/>
              <a:t>29/08/2026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FD7D00A-352F-46C9-1845-03EBBD10ED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274EBCD-AA4F-1D08-FDA3-27FFBE6CEE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7B961-E9F5-49FA-B097-7E4DB43A5E9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777262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CAE1100-C525-D347-20F1-8FA921700F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5848BF5-A9E2-D6A9-8217-DBA7DDA881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9D65300-C20A-6CAF-86F6-7F0272109E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8C0C99-A70E-47B7-B595-5F2073817AEF}" type="datetimeFigureOut">
              <a:rPr lang="es-ES" smtClean="0"/>
              <a:t>29/08/2026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5827AA6-4A65-9551-DEB8-082A0D3A24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B0AD4F5-C74F-9A73-1DFD-C6ED9F75F6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7B961-E9F5-49FA-B097-7E4DB43A5E9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65233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F3AC8C9-2B22-A486-F601-6FA020E106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03BAB61-B9DF-7314-97FC-A538B0810E6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02B943D-30DF-263D-47D1-4965CA06CB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67D06F1-88A3-3C90-2502-C5E78E6B03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8C0C99-A70E-47B7-B595-5F2073817AEF}" type="datetimeFigureOut">
              <a:rPr lang="es-ES" smtClean="0"/>
              <a:t>29/08/2026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EC30416-FE6F-00E6-15D6-E49B61CE4E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5FC19F6-DD68-09C0-A28D-D02005027F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7B961-E9F5-49FA-B097-7E4DB43A5E9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679610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C851D0E-654C-20FD-FA72-17CB2114DA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F57CE9D-0AAC-E0C3-F7BD-1B6E8C79B4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3FA6CBF-2BF6-1BB8-18F3-415DB65EC2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A401B462-AEBB-571B-9149-951209EF25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67CA1A20-B0AC-F9F9-6AAA-D7595B743D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55B4E734-AD21-5ED6-CDE3-24DB9B634F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8C0C99-A70E-47B7-B595-5F2073817AEF}" type="datetimeFigureOut">
              <a:rPr lang="es-ES" smtClean="0"/>
              <a:t>29/08/2026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58CBB7E1-7DF7-A4C4-3784-90208350BE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B8911D4C-2FE6-4B82-7B25-92EA85D589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7B961-E9F5-49FA-B097-7E4DB43A5E9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068611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32C991-0D87-F5AB-6AB6-6901C705C1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BAC3D1CA-E36A-B280-D311-BBD87FF7B0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8C0C99-A70E-47B7-B595-5F2073817AEF}" type="datetimeFigureOut">
              <a:rPr lang="es-ES" smtClean="0"/>
              <a:t>29/08/2026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C28BFA97-6F2B-48C3-AA2D-240AA4A215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455F5226-4770-4CC6-E597-10DEFBEC2D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7B961-E9F5-49FA-B097-7E4DB43A5E9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026725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D4635E93-287E-D1E5-8E49-12001483F2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8C0C99-A70E-47B7-B595-5F2073817AEF}" type="datetimeFigureOut">
              <a:rPr lang="es-ES" smtClean="0"/>
              <a:t>29/08/2026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273DA079-96AF-511B-C618-066F7668EC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5ABDD59-9814-44EF-0B14-F2BADAC208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7B961-E9F5-49FA-B097-7E4DB43A5E9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045798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CEC94AF-63A9-3C1D-8DC5-6E76E8E8E6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F574AB4-AE04-48B4-F08B-9A6510C192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238919F-BEFF-E147-4159-0A48372FD5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E06E390-27D5-A05B-D3F0-D03184E794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8C0C99-A70E-47B7-B595-5F2073817AEF}" type="datetimeFigureOut">
              <a:rPr lang="es-ES" smtClean="0"/>
              <a:t>29/08/2026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81C0EBC-4813-DF78-ABB9-A17FC0106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E2C0DA4-8CAD-FD33-D72B-7C8E1355DE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7B961-E9F5-49FA-B097-7E4DB43A5E9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588371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804B6B9-8D37-93E6-F80C-E98AE252F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16C7FF9C-F80B-6FBA-BCD9-6379723CCD4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B292C265-EC67-D332-58A1-CE27DB414C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63B2817-928B-2939-1DCF-7F0F8F2841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8C0C99-A70E-47B7-B595-5F2073817AEF}" type="datetimeFigureOut">
              <a:rPr lang="es-ES" smtClean="0"/>
              <a:t>29/08/2026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586A712-C0DA-8BD4-8760-20DC81252C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AAD189B-16FB-E3A3-0052-63B264494B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7B961-E9F5-49FA-B097-7E4DB43A5E9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628734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8592D1-046F-2CCF-069F-9894A887F3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5E282B00-97A8-FFC1-3DB4-DD907331A9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ACCC738-DDED-F081-9757-9D79085F59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8C0C99-A70E-47B7-B595-5F2073817AEF}" type="datetimeFigureOut">
              <a:rPr lang="es-ES" smtClean="0"/>
              <a:t>29/08/2026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9CCD252-7FEB-B287-D3E3-3B336D013F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70617B1-539D-EC41-458F-B776A339AB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7B961-E9F5-49FA-B097-7E4DB43A5E9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16945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BBE6A237-7778-3937-2A89-A3FD9601DD4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F0A3D94B-034D-AFF2-A7CD-91B6E64BCB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15138BB-8D50-BBAD-73DB-FC866BE357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8C0C99-A70E-47B7-B595-5F2073817AEF}" type="datetimeFigureOut">
              <a:rPr lang="es-ES" smtClean="0"/>
              <a:t>29/08/2026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E157012-D6CF-CD09-9315-309F666EDF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BA5ECF6-3CB6-82A8-81F9-EC23C91A10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7B961-E9F5-49FA-B097-7E4DB43A5E9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009575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9046143C-CA41-B5F1-410D-9DD640A0F3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C6AA000-678B-A2C9-17F1-95C6C82B73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055AD61-308C-0C50-54B5-BCFA934EAB4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08C0C99-A70E-47B7-B595-5F2073817AEF}" type="datetimeFigureOut">
              <a:rPr lang="es-ES" smtClean="0"/>
              <a:t>29/08/2026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65B6C8B-F163-E56D-5711-73BB2E2C6E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605D1D8-4425-6DE4-37A9-C378CF21E8D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AC7B961-E9F5-49FA-B097-7E4DB43A5E9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377248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0.png"/><Relationship Id="rId7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DE69B4-6E0A-DC91-DCA4-CBE5846686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ángulo 3">
                <a:extLst>
                  <a:ext uri="{FF2B5EF4-FFF2-40B4-BE49-F238E27FC236}">
                    <a16:creationId xmlns:a16="http://schemas.microsoft.com/office/drawing/2014/main" id="{270F41A6-A3C4-9C7A-75B1-9E9589091919}"/>
                  </a:ext>
                </a:extLst>
              </p:cNvPr>
              <p:cNvSpPr/>
              <p:nvPr/>
            </p:nvSpPr>
            <p:spPr>
              <a:xfrm>
                <a:off x="140683" y="1042218"/>
                <a:ext cx="2578510" cy="865239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US" b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𝐃𝐫</m:t>
                    </m:r>
                    <m:acc>
                      <m:accPr>
                        <m:chr m:val="̌"/>
                        <m:ctrlPr>
                          <a:rPr lang="en-US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𝐚</m:t>
                        </m:r>
                      </m:e>
                    </m:acc>
                    <m:r>
                      <a:rPr lang="en-US" b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𝐬𝐤𝐨𝐯𝐢</m:t>
                    </m:r>
                    <m:acc>
                      <m:accPr>
                        <m:chr m:val="́"/>
                        <m:ctrlPr>
                          <a:rPr lang="en-US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ES" b="1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𝐜</m:t>
                        </m:r>
                      </m:e>
                    </m:acc>
                  </m:oMath>
                </a14:m>
                <a:r>
                  <a:rPr lang="en-US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et al. (2025)</a:t>
                </a:r>
              </a:p>
            </p:txBody>
          </p:sp>
        </mc:Choice>
        <mc:Fallback xmlns="">
          <p:sp>
            <p:nvSpPr>
              <p:cNvPr id="4" name="Rectángulo 3">
                <a:extLst>
                  <a:ext uri="{FF2B5EF4-FFF2-40B4-BE49-F238E27FC236}">
                    <a16:creationId xmlns:a16="http://schemas.microsoft.com/office/drawing/2014/main" id="{270F41A6-A3C4-9C7A-75B1-9E958909191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0683" y="1042218"/>
                <a:ext cx="2578510" cy="86523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ángulo 5">
            <a:extLst>
              <a:ext uri="{FF2B5EF4-FFF2-40B4-BE49-F238E27FC236}">
                <a16:creationId xmlns:a16="http://schemas.microsoft.com/office/drawing/2014/main" id="{1FD094C6-E8C2-53DF-6A98-FE0DF87A5643}"/>
              </a:ext>
            </a:extLst>
          </p:cNvPr>
          <p:cNvSpPr/>
          <p:nvPr/>
        </p:nvSpPr>
        <p:spPr>
          <a:xfrm>
            <a:off x="3413598" y="743564"/>
            <a:ext cx="2605548" cy="597309"/>
          </a:xfrm>
          <a:prstGeom prst="rect">
            <a:avLst/>
          </a:prstGeom>
          <a:solidFill>
            <a:srgbClr val="FAFF93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Stochastic programming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14B30023-3B50-6BEA-32BB-053347DB31F3}"/>
              </a:ext>
            </a:extLst>
          </p:cNvPr>
          <p:cNvSpPr/>
          <p:nvPr/>
        </p:nvSpPr>
        <p:spPr>
          <a:xfrm>
            <a:off x="3413598" y="1608803"/>
            <a:ext cx="2605548" cy="59730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Robust optimization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728C137C-9876-AFAD-CAE5-B15F9F9A13DB}"/>
              </a:ext>
            </a:extLst>
          </p:cNvPr>
          <p:cNvSpPr/>
          <p:nvPr/>
        </p:nvSpPr>
        <p:spPr>
          <a:xfrm>
            <a:off x="6760991" y="1608802"/>
            <a:ext cx="2605548" cy="59730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Imbalance price deviations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ángulo 8">
                <a:extLst>
                  <a:ext uri="{FF2B5EF4-FFF2-40B4-BE49-F238E27FC236}">
                    <a16:creationId xmlns:a16="http://schemas.microsoft.com/office/drawing/2014/main" id="{039D9704-759A-D024-7715-D6C468F804B2}"/>
                  </a:ext>
                </a:extLst>
              </p:cNvPr>
              <p:cNvSpPr/>
              <p:nvPr/>
            </p:nvSpPr>
            <p:spPr>
              <a:xfrm>
                <a:off x="10021619" y="670128"/>
                <a:ext cx="2024213" cy="1609418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Risk controlled for the imbalance price deviations through the uncertainty budget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Γ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IB</m:t>
                        </m:r>
                      </m:sup>
                    </m:sSup>
                  </m:oMath>
                </a14:m>
                <a:endParaRPr lang="en-US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" name="Rectángulo 8">
                <a:extLst>
                  <a:ext uri="{FF2B5EF4-FFF2-40B4-BE49-F238E27FC236}">
                    <a16:creationId xmlns:a16="http://schemas.microsoft.com/office/drawing/2014/main" id="{039D9704-759A-D024-7715-D6C468F804B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21619" y="670128"/>
                <a:ext cx="2024213" cy="1609418"/>
              </a:xfrm>
              <a:prstGeom prst="rect">
                <a:avLst/>
              </a:prstGeom>
              <a:blipFill>
                <a:blip r:embed="rId3"/>
                <a:stretch>
                  <a:fillRect l="-1194" r="-3284" b="-1124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Abrir llave 9">
            <a:extLst>
              <a:ext uri="{FF2B5EF4-FFF2-40B4-BE49-F238E27FC236}">
                <a16:creationId xmlns:a16="http://schemas.microsoft.com/office/drawing/2014/main" id="{588A9039-C50C-D9B9-486F-E8E54772517D}"/>
              </a:ext>
            </a:extLst>
          </p:cNvPr>
          <p:cNvSpPr/>
          <p:nvPr/>
        </p:nvSpPr>
        <p:spPr>
          <a:xfrm>
            <a:off x="2801540" y="575187"/>
            <a:ext cx="629264" cy="1818968"/>
          </a:xfrm>
          <a:prstGeom prst="leftBrace">
            <a:avLst>
              <a:gd name="adj1" fmla="val 30555"/>
              <a:gd name="adj2" fmla="val 50000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Abrir llave 10">
            <a:extLst>
              <a:ext uri="{FF2B5EF4-FFF2-40B4-BE49-F238E27FC236}">
                <a16:creationId xmlns:a16="http://schemas.microsoft.com/office/drawing/2014/main" id="{FD5F9F14-43F2-E57B-D297-817337D27444}"/>
              </a:ext>
            </a:extLst>
          </p:cNvPr>
          <p:cNvSpPr/>
          <p:nvPr/>
        </p:nvSpPr>
        <p:spPr>
          <a:xfrm flipH="1">
            <a:off x="9310008" y="575187"/>
            <a:ext cx="629264" cy="1818968"/>
          </a:xfrm>
          <a:prstGeom prst="leftBrace">
            <a:avLst>
              <a:gd name="adj1" fmla="val 30555"/>
              <a:gd name="adj2" fmla="val 50000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ángulo 11">
                <a:extLst>
                  <a:ext uri="{FF2B5EF4-FFF2-40B4-BE49-F238E27FC236}">
                    <a16:creationId xmlns:a16="http://schemas.microsoft.com/office/drawing/2014/main" id="{6A430321-C845-2C3A-0FA7-DB54BEEDBC1E}"/>
                  </a:ext>
                </a:extLst>
              </p:cNvPr>
              <p:cNvSpPr/>
              <p:nvPr/>
            </p:nvSpPr>
            <p:spPr>
              <a:xfrm>
                <a:off x="6760991" y="743563"/>
                <a:ext cx="2605548" cy="597309"/>
              </a:xfrm>
              <a:prstGeom prst="rect">
                <a:avLst/>
              </a:prstGeom>
              <a:solidFill>
                <a:srgbClr val="FAFF93"/>
              </a:solidFill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Renewable production availability (scenarios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𝑠</m:t>
                    </m:r>
                  </m:oMath>
                </a14:m>
                <a:r>
                  <a:rPr lang="en-US" noProof="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12" name="Rectángulo 11">
                <a:extLst>
                  <a:ext uri="{FF2B5EF4-FFF2-40B4-BE49-F238E27FC236}">
                    <a16:creationId xmlns:a16="http://schemas.microsoft.com/office/drawing/2014/main" id="{4EC01C1A-5BD4-DD2A-14CC-B01E3FA803A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60991" y="743563"/>
                <a:ext cx="2605548" cy="597309"/>
              </a:xfrm>
              <a:prstGeom prst="rect">
                <a:avLst/>
              </a:prstGeom>
              <a:blipFill>
                <a:blip r:embed="rId5"/>
                <a:stretch>
                  <a:fillRect t="-7921" b="-16832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ectángulo 12">
            <a:extLst>
              <a:ext uri="{FF2B5EF4-FFF2-40B4-BE49-F238E27FC236}">
                <a16:creationId xmlns:a16="http://schemas.microsoft.com/office/drawing/2014/main" id="{C877810D-1689-264D-67A4-B66EDE2C4A05}"/>
              </a:ext>
            </a:extLst>
          </p:cNvPr>
          <p:cNvSpPr/>
          <p:nvPr/>
        </p:nvSpPr>
        <p:spPr>
          <a:xfrm>
            <a:off x="140683" y="3163529"/>
            <a:ext cx="2578509" cy="865239"/>
          </a:xfrm>
          <a:prstGeom prst="rect">
            <a:avLst/>
          </a:prstGeom>
          <a:solidFill>
            <a:srgbClr val="B5FE94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paper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9F1409B9-AF97-68BD-D344-8496D905C6C4}"/>
              </a:ext>
            </a:extLst>
          </p:cNvPr>
          <p:cNvSpPr/>
          <p:nvPr/>
        </p:nvSpPr>
        <p:spPr>
          <a:xfrm>
            <a:off x="3413598" y="2864875"/>
            <a:ext cx="2605548" cy="597309"/>
          </a:xfrm>
          <a:prstGeom prst="rect">
            <a:avLst/>
          </a:prstGeom>
          <a:solidFill>
            <a:srgbClr val="FAFF93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Stochastic programming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D08EE62A-1064-C3E0-F12F-E11D0ECC91BA}"/>
              </a:ext>
            </a:extLst>
          </p:cNvPr>
          <p:cNvSpPr/>
          <p:nvPr/>
        </p:nvSpPr>
        <p:spPr>
          <a:xfrm>
            <a:off x="3413598" y="3730114"/>
            <a:ext cx="2605548" cy="59730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Robust optimization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ángulo 15">
                <a:extLst>
                  <a:ext uri="{FF2B5EF4-FFF2-40B4-BE49-F238E27FC236}">
                    <a16:creationId xmlns:a16="http://schemas.microsoft.com/office/drawing/2014/main" id="{7F0834C0-E38F-C961-15B0-0A8E4AE97667}"/>
                  </a:ext>
                </a:extLst>
              </p:cNvPr>
              <p:cNvSpPr/>
              <p:nvPr/>
            </p:nvSpPr>
            <p:spPr>
              <a:xfrm>
                <a:off x="6760991" y="3730113"/>
                <a:ext cx="2605548" cy="597309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Imbalance price deviations (scenarios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𝜉</m:t>
                    </m:r>
                  </m:oMath>
                </a14:m>
                <a:r>
                  <a:rPr lang="en-US" noProof="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16" name="Rectángulo 15">
                <a:extLst>
                  <a:ext uri="{FF2B5EF4-FFF2-40B4-BE49-F238E27FC236}">
                    <a16:creationId xmlns:a16="http://schemas.microsoft.com/office/drawing/2014/main" id="{156C7874-9065-3DDD-788F-C63811513B9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60991" y="3730113"/>
                <a:ext cx="2605548" cy="597309"/>
              </a:xfrm>
              <a:prstGeom prst="rect">
                <a:avLst/>
              </a:prstGeom>
              <a:blipFill>
                <a:blip r:embed="rId6"/>
                <a:stretch>
                  <a:fillRect t="-7921" b="-16832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ángulo 16">
                <a:extLst>
                  <a:ext uri="{FF2B5EF4-FFF2-40B4-BE49-F238E27FC236}">
                    <a16:creationId xmlns:a16="http://schemas.microsoft.com/office/drawing/2014/main" id="{6E239305-FC82-92DD-9798-DF547AA31C01}"/>
                  </a:ext>
                </a:extLst>
              </p:cNvPr>
              <p:cNvSpPr/>
              <p:nvPr/>
            </p:nvSpPr>
            <p:spPr>
              <a:xfrm>
                <a:off x="10021619" y="2896213"/>
                <a:ext cx="2024212" cy="1399869"/>
              </a:xfrm>
              <a:prstGeom prst="rect">
                <a:avLst/>
              </a:prstGeom>
              <a:solidFill>
                <a:srgbClr val="B5FE94"/>
              </a:solidFill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Risk controlled for scenarios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𝑠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𝜉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through the confidence level </a:t>
                </a:r>
                <a14:m>
                  <m:oMath xmlns:m="http://schemas.openxmlformats.org/officeDocument/2006/math">
                    <m:r>
                      <a:rPr lang="en-US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endParaRPr lang="en-US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7" name="Rectángulo 16">
                <a:extLst>
                  <a:ext uri="{FF2B5EF4-FFF2-40B4-BE49-F238E27FC236}">
                    <a16:creationId xmlns:a16="http://schemas.microsoft.com/office/drawing/2014/main" id="{6E239305-FC82-92DD-9798-DF547AA31C0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21619" y="2896213"/>
                <a:ext cx="2024212" cy="1399869"/>
              </a:xfrm>
              <a:prstGeom prst="rect">
                <a:avLst/>
              </a:prstGeom>
              <a:blipFill>
                <a:blip r:embed="rId7"/>
                <a:stretch>
                  <a:fillRect r="-2090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Abrir llave 17">
            <a:extLst>
              <a:ext uri="{FF2B5EF4-FFF2-40B4-BE49-F238E27FC236}">
                <a16:creationId xmlns:a16="http://schemas.microsoft.com/office/drawing/2014/main" id="{8531EDBE-18BC-FD59-2F08-4A3AD315ABDD}"/>
              </a:ext>
            </a:extLst>
          </p:cNvPr>
          <p:cNvSpPr/>
          <p:nvPr/>
        </p:nvSpPr>
        <p:spPr>
          <a:xfrm>
            <a:off x="2801540" y="2696498"/>
            <a:ext cx="629264" cy="1818968"/>
          </a:xfrm>
          <a:prstGeom prst="leftBrace">
            <a:avLst>
              <a:gd name="adj1" fmla="val 30555"/>
              <a:gd name="adj2" fmla="val 50000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Abrir llave 18">
            <a:extLst>
              <a:ext uri="{FF2B5EF4-FFF2-40B4-BE49-F238E27FC236}">
                <a16:creationId xmlns:a16="http://schemas.microsoft.com/office/drawing/2014/main" id="{E018A327-4BF0-27CE-2390-FCEB57B29599}"/>
              </a:ext>
            </a:extLst>
          </p:cNvPr>
          <p:cNvSpPr/>
          <p:nvPr/>
        </p:nvSpPr>
        <p:spPr>
          <a:xfrm flipH="1">
            <a:off x="9310008" y="2696498"/>
            <a:ext cx="629264" cy="1818968"/>
          </a:xfrm>
          <a:prstGeom prst="leftBrace">
            <a:avLst>
              <a:gd name="adj1" fmla="val 30555"/>
              <a:gd name="adj2" fmla="val 50000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ctángulo 19">
                <a:extLst>
                  <a:ext uri="{FF2B5EF4-FFF2-40B4-BE49-F238E27FC236}">
                    <a16:creationId xmlns:a16="http://schemas.microsoft.com/office/drawing/2014/main" id="{0527440F-EE24-BD81-5428-B044F9732751}"/>
                  </a:ext>
                </a:extLst>
              </p:cNvPr>
              <p:cNvSpPr/>
              <p:nvPr/>
            </p:nvSpPr>
            <p:spPr>
              <a:xfrm>
                <a:off x="6760991" y="2864874"/>
                <a:ext cx="2605548" cy="597309"/>
              </a:xfrm>
              <a:prstGeom prst="rect">
                <a:avLst/>
              </a:prstGeom>
              <a:solidFill>
                <a:srgbClr val="FAFF93"/>
              </a:solidFill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Renewable production availability (scenarios </a:t>
                </a:r>
                <a14:m>
                  <m:oMath xmlns:m="http://schemas.openxmlformats.org/officeDocument/2006/math">
                    <m:r>
                      <a:rPr lang="en-US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20" name="Rectángulo 19">
                <a:extLst>
                  <a:ext uri="{FF2B5EF4-FFF2-40B4-BE49-F238E27FC236}">
                    <a16:creationId xmlns:a16="http://schemas.microsoft.com/office/drawing/2014/main" id="{B82061CB-F2C4-5132-4D37-FFBABBCCB85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60991" y="2864874"/>
                <a:ext cx="2605548" cy="597309"/>
              </a:xfrm>
              <a:prstGeom prst="rect">
                <a:avLst/>
              </a:prstGeom>
              <a:blipFill>
                <a:blip r:embed="rId8"/>
                <a:stretch>
                  <a:fillRect t="-7921" b="-16832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" name="Conector recto de flecha 21">
            <a:extLst>
              <a:ext uri="{FF2B5EF4-FFF2-40B4-BE49-F238E27FC236}">
                <a16:creationId xmlns:a16="http://schemas.microsoft.com/office/drawing/2014/main" id="{FBB32736-3F57-14A5-70A0-6623EA72ECB8}"/>
              </a:ext>
            </a:extLst>
          </p:cNvPr>
          <p:cNvCxnSpPr>
            <a:cxnSpLocks/>
            <a:stCxn id="6" idx="3"/>
            <a:endCxn id="12" idx="1"/>
          </p:cNvCxnSpPr>
          <p:nvPr/>
        </p:nvCxnSpPr>
        <p:spPr>
          <a:xfrm flipV="1">
            <a:off x="6019146" y="1042218"/>
            <a:ext cx="741845" cy="1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ector recto de flecha 24">
            <a:extLst>
              <a:ext uri="{FF2B5EF4-FFF2-40B4-BE49-F238E27FC236}">
                <a16:creationId xmlns:a16="http://schemas.microsoft.com/office/drawing/2014/main" id="{B1018F65-51F1-99E6-2E6A-048A8BF0116F}"/>
              </a:ext>
            </a:extLst>
          </p:cNvPr>
          <p:cNvCxnSpPr>
            <a:cxnSpLocks/>
            <a:stCxn id="7" idx="3"/>
            <a:endCxn id="8" idx="1"/>
          </p:cNvCxnSpPr>
          <p:nvPr/>
        </p:nvCxnSpPr>
        <p:spPr>
          <a:xfrm flipV="1">
            <a:off x="6019146" y="1907457"/>
            <a:ext cx="741845" cy="1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ector recto de flecha 27">
            <a:extLst>
              <a:ext uri="{FF2B5EF4-FFF2-40B4-BE49-F238E27FC236}">
                <a16:creationId xmlns:a16="http://schemas.microsoft.com/office/drawing/2014/main" id="{0A55BE2E-8E16-92B9-524A-B81E0A3734EC}"/>
              </a:ext>
            </a:extLst>
          </p:cNvPr>
          <p:cNvCxnSpPr>
            <a:cxnSpLocks/>
            <a:stCxn id="14" idx="3"/>
            <a:endCxn id="20" idx="1"/>
          </p:cNvCxnSpPr>
          <p:nvPr/>
        </p:nvCxnSpPr>
        <p:spPr>
          <a:xfrm flipV="1">
            <a:off x="6019146" y="3163529"/>
            <a:ext cx="741845" cy="1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ector recto de flecha 30">
            <a:extLst>
              <a:ext uri="{FF2B5EF4-FFF2-40B4-BE49-F238E27FC236}">
                <a16:creationId xmlns:a16="http://schemas.microsoft.com/office/drawing/2014/main" id="{15041DFC-AAFC-1C02-F2A4-1DA2523CB1F9}"/>
              </a:ext>
            </a:extLst>
          </p:cNvPr>
          <p:cNvCxnSpPr>
            <a:cxnSpLocks/>
            <a:stCxn id="15" idx="3"/>
            <a:endCxn id="16" idx="1"/>
          </p:cNvCxnSpPr>
          <p:nvPr/>
        </p:nvCxnSpPr>
        <p:spPr>
          <a:xfrm flipV="1">
            <a:off x="6019146" y="4028768"/>
            <a:ext cx="741845" cy="1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ector recto de flecha 33">
            <a:extLst>
              <a:ext uri="{FF2B5EF4-FFF2-40B4-BE49-F238E27FC236}">
                <a16:creationId xmlns:a16="http://schemas.microsoft.com/office/drawing/2014/main" id="{48181225-FACF-6FB8-CD90-AE1E1AFAC23B}"/>
              </a:ext>
            </a:extLst>
          </p:cNvPr>
          <p:cNvCxnSpPr>
            <a:cxnSpLocks/>
            <a:stCxn id="14" idx="3"/>
          </p:cNvCxnSpPr>
          <p:nvPr/>
        </p:nvCxnSpPr>
        <p:spPr>
          <a:xfrm>
            <a:off x="6019146" y="3163530"/>
            <a:ext cx="723284" cy="741720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1709021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87</TotalTime>
  <Words>68</Words>
  <Application>Microsoft Office PowerPoint</Application>
  <PresentationFormat>Panorámica</PresentationFormat>
  <Paragraphs>12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Arial</vt:lpstr>
      <vt:lpstr>Cambria Math</vt:lpstr>
      <vt:lpstr>Times New Roman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Álvaro García Cerezo</dc:creator>
  <cp:lastModifiedBy>Álvaro García Cerezo</cp:lastModifiedBy>
  <cp:revision>1</cp:revision>
  <dcterms:created xsi:type="dcterms:W3CDTF">2025-09-14T15:14:53Z</dcterms:created>
  <dcterms:modified xsi:type="dcterms:W3CDTF">2026-08-29T13:36:02Z</dcterms:modified>
</cp:coreProperties>
</file>