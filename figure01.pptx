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8999538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19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lvaro García Cerezo" userId="431236b2-20b9-46ca-97a9-97f8fe0db936" providerId="ADAL" clId="{15107D05-290A-4D7B-AE2B-29B0EAF6F057}"/>
    <pc:docChg chg="delSld">
      <pc:chgData name="Álvaro García Cerezo" userId="431236b2-20b9-46ca-97a9-97f8fe0db936" providerId="ADAL" clId="{15107D05-290A-4D7B-AE2B-29B0EAF6F057}" dt="2026-08-29T13:32:33.530" v="0" actId="47"/>
      <pc:docMkLst>
        <pc:docMk/>
      </pc:docMkLst>
      <pc:sldChg chg="del">
        <pc:chgData name="Álvaro García Cerezo" userId="431236b2-20b9-46ca-97a9-97f8fe0db936" providerId="ADAL" clId="{15107D05-290A-4D7B-AE2B-29B0EAF6F057}" dt="2026-08-29T13:32:33.530" v="0" actId="47"/>
        <pc:sldMkLst>
          <pc:docMk/>
          <pc:sldMk cId="3327943559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767462"/>
            <a:ext cx="7649607" cy="3759917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5672376"/>
            <a:ext cx="6749654" cy="2607442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125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975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692444"/>
            <a:ext cx="7762102" cy="4492401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7227345"/>
            <a:ext cx="7762102" cy="2362447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494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874937"/>
            <a:ext cx="3824804" cy="68523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874937"/>
            <a:ext cx="3824804" cy="68523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052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574990"/>
            <a:ext cx="7762102" cy="208745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647443"/>
            <a:ext cx="3807226" cy="1297471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944914"/>
            <a:ext cx="3807226" cy="58023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2647443"/>
            <a:ext cx="3825976" cy="1297471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3944914"/>
            <a:ext cx="3825976" cy="58023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001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442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2389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984"/>
            <a:ext cx="2902585" cy="2519945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554968"/>
            <a:ext cx="4556016" cy="7674832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9929"/>
            <a:ext cx="2902585" cy="6002369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820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719984"/>
            <a:ext cx="2902585" cy="2519945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554968"/>
            <a:ext cx="4556016" cy="7674832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239929"/>
            <a:ext cx="2902585" cy="6002369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237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116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574987"/>
            <a:ext cx="1940525" cy="91523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574987"/>
            <a:ext cx="5709082" cy="91523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053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574990"/>
            <a:ext cx="776210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874937"/>
            <a:ext cx="776210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0009783"/>
            <a:ext cx="2024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15A3B-1AD7-4A95-AE5A-67AB63428CFA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0009783"/>
            <a:ext cx="303734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0009783"/>
            <a:ext cx="20248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E45BB-5195-4ADC-A702-EB48E667CB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867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E840-A43D-684A-B211-2E326302E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3822122-2431-2854-DF3A-57D1CB79716F}"/>
              </a:ext>
            </a:extLst>
          </p:cNvPr>
          <p:cNvSpPr/>
          <p:nvPr/>
        </p:nvSpPr>
        <p:spPr>
          <a:xfrm>
            <a:off x="211658" y="217669"/>
            <a:ext cx="2578509" cy="5328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Formulation (1)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584E93-659F-E2A1-B57A-81E92EED7C86}"/>
              </a:ext>
            </a:extLst>
          </p:cNvPr>
          <p:cNvSpPr/>
          <p:nvPr/>
        </p:nvSpPr>
        <p:spPr>
          <a:xfrm>
            <a:off x="211658" y="1357373"/>
            <a:ext cx="2578509" cy="5328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Formulation (6)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DAE097D-7DF4-92E2-5FC6-6DA0C46A6776}"/>
              </a:ext>
            </a:extLst>
          </p:cNvPr>
          <p:cNvSpPr/>
          <p:nvPr/>
        </p:nvSpPr>
        <p:spPr>
          <a:xfrm>
            <a:off x="211659" y="2520900"/>
            <a:ext cx="2578509" cy="5328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Formulation (7a)-(7c)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E3A32F-3290-D052-202D-AB3534DBC81B}"/>
              </a:ext>
            </a:extLst>
          </p:cNvPr>
          <p:cNvSpPr/>
          <p:nvPr/>
        </p:nvSpPr>
        <p:spPr>
          <a:xfrm>
            <a:off x="211659" y="3670439"/>
            <a:ext cx="2578509" cy="5328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Formulation (8a)-(8c)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0A2B63-18E9-EC21-0E39-D82A168A728C}"/>
              </a:ext>
            </a:extLst>
          </p:cNvPr>
          <p:cNvSpPr/>
          <p:nvPr/>
        </p:nvSpPr>
        <p:spPr>
          <a:xfrm>
            <a:off x="211659" y="4813751"/>
            <a:ext cx="2578509" cy="5328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Formulation (10a)-(10b)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A4DFA54-83A0-52A2-9C6A-53FEF1F4DEC2}"/>
              </a:ext>
            </a:extLst>
          </p:cNvPr>
          <p:cNvSpPr/>
          <p:nvPr/>
        </p:nvSpPr>
        <p:spPr>
          <a:xfrm>
            <a:off x="211658" y="5957063"/>
            <a:ext cx="2578509" cy="5328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Formulation (14a)-(14c)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57C5BCD-F0C4-DF42-9613-D9AE7BAF53F3}"/>
              </a:ext>
            </a:extLst>
          </p:cNvPr>
          <p:cNvSpPr/>
          <p:nvPr/>
        </p:nvSpPr>
        <p:spPr>
          <a:xfrm>
            <a:off x="211658" y="7100375"/>
            <a:ext cx="2578509" cy="5328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Formulation (15a)-(15d)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A42482-0F89-AB68-CF8E-6A5CF794D305}"/>
              </a:ext>
            </a:extLst>
          </p:cNvPr>
          <p:cNvSpPr txBox="1"/>
          <p:nvPr/>
        </p:nvSpPr>
        <p:spPr>
          <a:xfrm>
            <a:off x="690538" y="869260"/>
            <a:ext cx="5943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IPDs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worst case for the VPP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DCAA045-7328-0E92-4E32-80BFA46851DD}"/>
              </a:ext>
            </a:extLst>
          </p:cNvPr>
          <p:cNvSpPr txBox="1"/>
          <p:nvPr/>
        </p:nvSpPr>
        <p:spPr>
          <a:xfrm>
            <a:off x="690539" y="2024846"/>
            <a:ext cx="5306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the level of conservatism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E022102-71D1-5CBA-4604-EA510ED66465}"/>
              </a:ext>
            </a:extLst>
          </p:cNvPr>
          <p:cNvSpPr txBox="1"/>
          <p:nvPr/>
        </p:nvSpPr>
        <p:spPr>
          <a:xfrm>
            <a:off x="690538" y="3174296"/>
            <a:ext cx="8097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stochastic programming and robust optimization to model IPDs’ uncertainty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5DCB957-4907-E6A7-14E6-108D0D6502D5}"/>
              </a:ext>
            </a:extLst>
          </p:cNvPr>
          <p:cNvSpPr txBox="1"/>
          <p:nvPr/>
        </p:nvSpPr>
        <p:spPr>
          <a:xfrm>
            <a:off x="690538" y="4320721"/>
            <a:ext cx="7975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robust optimization problem into dual and recast as single-level</a:t>
            </a:r>
            <a:endParaRPr lang="en-U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A5E76B4-7DC9-04BD-C391-CDBD8FD7F673}"/>
              </a:ext>
            </a:extLst>
          </p:cNvPr>
          <p:cNvSpPr txBox="1"/>
          <p:nvPr/>
        </p:nvSpPr>
        <p:spPr>
          <a:xfrm>
            <a:off x="690537" y="5467146"/>
            <a:ext cx="7161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Linearize the absolute value of the VPP’s market position deviation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2CEEDD4-B7D3-D158-DF8B-FEFE90E48280}"/>
                  </a:ext>
                </a:extLst>
              </p:cNvPr>
              <p:cNvSpPr txBox="1"/>
              <p:nvPr/>
            </p:nvSpPr>
            <p:spPr>
              <a:xfrm>
                <a:off x="690536" y="6610458"/>
                <a:ext cx="76611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the risk aversion of the VPP through the CVaR for scenarios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2CEEDD4-B7D3-D158-DF8B-FEFE90E48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36" y="6610458"/>
                <a:ext cx="7661111" cy="369332"/>
              </a:xfrm>
              <a:prstGeom prst="rect">
                <a:avLst/>
              </a:prstGeom>
              <a:blipFill>
                <a:blip r:embed="rId2"/>
                <a:stretch>
                  <a:fillRect l="-636" t="-9836" b="-2295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C9068CE-F47D-5876-4A21-466AF38E0B18}"/>
              </a:ext>
            </a:extLst>
          </p:cNvPr>
          <p:cNvCxnSpPr>
            <a:cxnSpLocks/>
          </p:cNvCxnSpPr>
          <p:nvPr/>
        </p:nvCxnSpPr>
        <p:spPr>
          <a:xfrm>
            <a:off x="590309" y="750479"/>
            <a:ext cx="0" cy="60689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E8520DF-2A2E-5B65-8E44-6A49D68D95B2}"/>
              </a:ext>
            </a:extLst>
          </p:cNvPr>
          <p:cNvCxnSpPr>
            <a:cxnSpLocks/>
          </p:cNvCxnSpPr>
          <p:nvPr/>
        </p:nvCxnSpPr>
        <p:spPr>
          <a:xfrm>
            <a:off x="590309" y="1895721"/>
            <a:ext cx="0" cy="6192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0452B8B-D8EA-B574-914F-AB79632C4A7B}"/>
              </a:ext>
            </a:extLst>
          </p:cNvPr>
          <p:cNvCxnSpPr>
            <a:cxnSpLocks/>
          </p:cNvCxnSpPr>
          <p:nvPr/>
        </p:nvCxnSpPr>
        <p:spPr>
          <a:xfrm>
            <a:off x="590309" y="3059608"/>
            <a:ext cx="0" cy="60689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EF7EFDB-38CF-6A63-F629-CBA59BC91FF5}"/>
              </a:ext>
            </a:extLst>
          </p:cNvPr>
          <p:cNvCxnSpPr>
            <a:cxnSpLocks/>
          </p:cNvCxnSpPr>
          <p:nvPr/>
        </p:nvCxnSpPr>
        <p:spPr>
          <a:xfrm>
            <a:off x="590309" y="4202440"/>
            <a:ext cx="0" cy="60689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9EC65B72-39AF-8972-1C89-9B3C3FC7AEA0}"/>
              </a:ext>
            </a:extLst>
          </p:cNvPr>
          <p:cNvCxnSpPr>
            <a:cxnSpLocks/>
          </p:cNvCxnSpPr>
          <p:nvPr/>
        </p:nvCxnSpPr>
        <p:spPr>
          <a:xfrm>
            <a:off x="590309" y="5345440"/>
            <a:ext cx="0" cy="60689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B0C29F11-7EE5-CE57-D616-30A8988FBF34}"/>
              </a:ext>
            </a:extLst>
          </p:cNvPr>
          <p:cNvCxnSpPr>
            <a:cxnSpLocks/>
          </p:cNvCxnSpPr>
          <p:nvPr/>
        </p:nvCxnSpPr>
        <p:spPr>
          <a:xfrm>
            <a:off x="590309" y="6489554"/>
            <a:ext cx="0" cy="60689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9350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100</Words>
  <Application>Microsoft Office PowerPoint</Application>
  <PresentationFormat>Personalizado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García Cerezo</dc:creator>
  <cp:lastModifiedBy>Álvaro García Cerezo</cp:lastModifiedBy>
  <cp:revision>1</cp:revision>
  <dcterms:created xsi:type="dcterms:W3CDTF">2025-09-14T16:30:05Z</dcterms:created>
  <dcterms:modified xsi:type="dcterms:W3CDTF">2026-08-29T13:32:34Z</dcterms:modified>
</cp:coreProperties>
</file>